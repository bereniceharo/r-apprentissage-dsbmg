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69_5769857C.xml" ContentType="application/vnd.ms-powerpoint.comments+xml"/>
  <Override PartName="/ppt/comments/modernComment_16A_B70441B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61" r:id="rId3"/>
    <p:sldId id="362" r:id="rId4"/>
    <p:sldId id="363" r:id="rId5"/>
    <p:sldId id="364" r:id="rId6"/>
    <p:sldId id="384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9F2E71-D8B9-F275-F3F1-75A3DA8C7C59}" name="Emmanuel Haro" initials="EH" userId="Emmanuel Har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modernComment_16A_B70441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C74C9C-B3EF-344A-BEDD-B7F2A5BFDFD3}" authorId="{289F2E71-D8B9-F275-F3F1-75A3DA8C7C59}" created="2025-05-08T09:31:10.19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70509496" sldId="362"/>
      <ac:graphicFrameMk id="4" creationId="{43F15AB4-73B8-7EFD-8B39-3EBE69A8AC7A}"/>
      <ac:tblMk/>
      <ac:tcMk rowId="224715696" colId="799983744"/>
      <ac:txMk cp="0">
        <ac:context len="1" hash="13"/>
      </ac:txMk>
    </ac:txMkLst>
    <p188:pos x="2966257" y="2123902"/>
    <p188:txBody>
      <a:bodyPr/>
      <a:lstStyle/>
      <a:p>
        <a:r>
          <a:rPr lang="en-GB"/>
          <a:t>reacu du niveau supérieur? </a:t>
        </a:r>
      </a:p>
    </p188:txBody>
  </p188:cm>
  <p188:cm id="{4113AB5C-83D7-C944-A7AB-EE9CF1516448}" authorId="{289F2E71-D8B9-F275-F3F1-75A3DA8C7C59}" created="2025-05-08T09:32:42.59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70509496" sldId="362"/>
      <ac:graphicFrameMk id="4" creationId="{43F15AB4-73B8-7EFD-8B39-3EBE69A8AC7A}"/>
      <ac:tblMk/>
      <ac:tcMk rowId="2637813185" colId="3174153361"/>
      <ac:txMk cp="0" len="3">
        <ac:context len="4" hash="1929358"/>
      </ac:txMk>
    </ac:txMkLst>
    <p188:pos x="9367057" y="2581102"/>
    <p188:txBody>
      <a:bodyPr/>
      <a:lstStyle/>
      <a:p>
        <a:r>
          <a:rPr lang="en-GB"/>
          <a:t>A revoir</a:t>
        </a:r>
      </a:p>
    </p188:txBody>
  </p188:cm>
</p188:cmLst>
</file>

<file path=ppt/comments/modernComment_169_576985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9573C82-4D40-1943-8379-C0A5D3B62149}" authorId="{289F2E71-D8B9-F275-F3F1-75A3DA8C7C59}" created="2025-05-08T09:28:08.00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66533244" sldId="361"/>
      <ac:graphicFrameMk id="3" creationId="{D3ED81D2-8B27-B3E3-F2E7-2E9E33C2D791}"/>
      <ac:tblMk/>
      <ac:tcMk rowId="1253039805" colId="3029417734"/>
      <ac:txMk cp="0" len="3">
        <ac:context len="4" hash="2026048"/>
      </ac:txMk>
    </ac:txMkLst>
    <p188:pos x="10871662" y="3126114"/>
    <p188:txBody>
      <a:bodyPr/>
      <a:lstStyle/>
      <a:p>
        <a:r>
          <a:rPr lang="en-GB"/>
          <a:t>Seulement 7 pour tous les 3 mois?</a:t>
        </a:r>
      </a:p>
    </p188:txBody>
  </p188:cm>
  <p188:cm id="{78014EA7-DDD4-7E4F-A892-1478683033C5}" authorId="{289F2E71-D8B9-F275-F3F1-75A3DA8C7C59}" created="2025-05-08T09:29:06.91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66533244" sldId="361"/>
      <ac:graphicFrameMk id="3" creationId="{D3ED81D2-8B27-B3E3-F2E7-2E9E33C2D791}"/>
      <ac:tblMk/>
      <ac:tcMk rowId="3150631161" colId="3029417734"/>
      <ac:txMk cp="0" len="3">
        <ac:context len="4" hash="1774489"/>
      </ac:txMk>
    </ac:txMkLst>
    <p188:pos x="10871662" y="1190634"/>
    <p188:txBody>
      <a:bodyPr/>
      <a:lstStyle/>
      <a:p>
        <a:r>
          <a:rPr lang="en-GB"/>
          <a:t>pas eu de décès??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AF6C14-D72C-95D2-8F5D-14BD33976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CC341B3-14D6-9C4E-EB36-F1985B596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3792EC-E0E3-6B06-D110-1BE3036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69E023-C2DE-6FF1-B7FA-EA8F717A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FA16FC-D4CE-E965-2315-A4D8E9B7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916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1B0EF-9101-6280-4BEE-BFF127FC7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7C8273-BBCF-5835-6EB2-1907B099F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C6101E-DB67-727C-EE2E-B4B520B9D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4198A9-2D5F-D23B-8A5A-D49FBC799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0A122D-05F6-4C97-206B-3809704A9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89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EE518E-0E72-A178-8661-095C6B8BF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F17DE8-E0E5-77D2-6452-6E770E8A6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5095D6-DC85-28B4-3833-2F22117E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268161-6737-7E96-A797-7FF80A5EA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B64471-8187-17C6-FFA2-2C91C85B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445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18F46-401B-1D61-2882-1812491FC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B5DEAE-FA2C-40DB-CDAE-D1F8B1607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558BF09-F6CB-439F-7F2C-F847D3E4B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413ACE-94D7-208C-A26B-4FAEC5C8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AD00A4-0769-4F5A-6C4E-E83452C2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A60486-31E6-ED5F-B53F-3D037899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5753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9A5688-FBC5-26DB-EB67-4D5239AB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892F04-B534-0623-AF89-37B273196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5FC359-0F58-C307-1B74-A10311DB8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F47ADD5-5604-809F-43F1-F861C71C8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EC8D75D-16E4-D70A-9D81-01D42FE19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C638A2-1CEF-FA1C-1F31-31209F57D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A73D798-25C6-AA5D-8187-F027D505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4106640-A8E3-2732-F815-06019A5D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244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D8ECCC-D953-2CC6-0E70-20EDB2D29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BC4E2CB-26CA-1F9F-3834-0F472A09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E5A8A5-523D-25DE-C22E-F665526E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00723F-32E2-2767-4AED-284D9EFC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61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00785BE-9D4A-E9AA-B5A5-E569CD99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71B882-80FE-68EC-A55C-C7B110AA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973211-E222-D6EA-2B44-B4CDBFBFA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348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E969AD-91E6-F3E4-464E-EB66DC2C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0A1772-5796-B4FE-1025-8641DC0C2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C35A2D5-5499-CA7A-66A7-D3259C4F0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4918F9-9255-CB99-0EA4-BA48AB83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590957-DE7F-B2BD-C56A-4970B74A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9C1177-2533-54CF-6A72-90FD39FF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0476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138CE9-FADB-C2EB-B59D-11D8AB55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F9BF619-EA05-4920-704A-B364F2E268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E5445F-0BC5-77E4-B7AE-0D3F8BC78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A046BA-25D7-C862-0CCE-5DDDBE788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79495B-CF15-215E-601A-AB9923CE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BFAFE8-45F6-0701-7049-C44FDF86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462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3A0055-741A-3971-0E87-259CD97B7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BBAE9F-D41F-BFBB-A490-2FAF433F8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2F7075-EB97-045D-5FE3-9BFEC295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E869AA-FC3A-C053-62CD-663E7F981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369965-05FA-6DA9-057D-C714E0750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579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3D84037-45DC-53A6-0E0F-14DEC74FC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D9106D4-E00D-51EC-62CE-41A722229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D54B1F-6899-CC7C-C06C-4855879E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DA94DE-2D28-C3AE-C4A0-69A6B6A97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3A74AF-D834-2E4C-DE60-427DE117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23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2A23243-91A1-F909-DC34-2AF91D09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412FC7-EED6-E321-24D1-E2986F4C9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4CEDFB-EF7E-24DE-2554-EEE4AF021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DB665-F60B-4F33-A1FC-E48AA75C4C42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8F977A-ACEA-DF22-44A5-A67BF4314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1AC0D4-028C-E3BA-7D35-076C8E583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38473-5D5A-4DB5-84D0-389432C600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150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9_5769857C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A_B70441B8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C1B4F-AD76-EBD8-6851-810765243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0275" y="3130063"/>
            <a:ext cx="10374923" cy="832338"/>
          </a:xfr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fr-FR" sz="3600" dirty="0">
                <a:latin typeface="Algerian" panose="04020705040A02060702" pitchFamily="82" charset="0"/>
              </a:rPr>
              <a:t>RENCONTRE RESP FS/ECD T1</a:t>
            </a:r>
            <a:r>
              <a:rPr lang="fr-FR" sz="3600" strike="sngStrike" dirty="0">
                <a:solidFill>
                  <a:srgbClr val="FF0000"/>
                </a:solidFill>
                <a:latin typeface="Algerian" panose="04020705040A02060702" pitchFamily="82" charset="0"/>
              </a:rPr>
              <a:t>2</a:t>
            </a:r>
            <a:r>
              <a:rPr lang="fr-FR" sz="3600" dirty="0">
                <a:latin typeface="Algerian" panose="04020705040A02060702" pitchFamily="82" charset="0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72601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DEF68-7FCF-A563-DCEE-C2B97024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D37A3D-D678-C0A4-2461-AEFEF15D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" y="224971"/>
            <a:ext cx="11831781" cy="1742374"/>
          </a:xfrm>
        </p:spPr>
        <p:txBody>
          <a:bodyPr>
            <a:noAutofit/>
          </a:bodyPr>
          <a:lstStyle/>
          <a:p>
            <a:pPr algn="ctr"/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Quelques indicateurs du CMA Pissy T1 de 2023,2024 et 2025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3ED81D2-8B27-B3E3-F2E7-2E9E33C2D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195004"/>
              </p:ext>
            </p:extLst>
          </p:nvPr>
        </p:nvGraphicFramePr>
        <p:xfrm>
          <a:off x="207818" y="2116446"/>
          <a:ext cx="11568547" cy="4395190"/>
        </p:xfrm>
        <a:graphic>
          <a:graphicData uri="http://schemas.openxmlformats.org/drawingml/2006/table">
            <a:tbl>
              <a:tblPr/>
              <a:tblGrid>
                <a:gridCol w="5723932">
                  <a:extLst>
                    <a:ext uri="{9D8B030D-6E8A-4147-A177-3AD203B41FA5}">
                      <a16:colId xmlns:a16="http://schemas.microsoft.com/office/drawing/2014/main" val="124776641"/>
                    </a:ext>
                  </a:extLst>
                </a:gridCol>
                <a:gridCol w="1948205">
                  <a:extLst>
                    <a:ext uri="{9D8B030D-6E8A-4147-A177-3AD203B41FA5}">
                      <a16:colId xmlns:a16="http://schemas.microsoft.com/office/drawing/2014/main" val="2285984605"/>
                    </a:ext>
                  </a:extLst>
                </a:gridCol>
                <a:gridCol w="1948205">
                  <a:extLst>
                    <a:ext uri="{9D8B030D-6E8A-4147-A177-3AD203B41FA5}">
                      <a16:colId xmlns:a16="http://schemas.microsoft.com/office/drawing/2014/main" val="1295188425"/>
                    </a:ext>
                  </a:extLst>
                </a:gridCol>
                <a:gridCol w="1948205">
                  <a:extLst>
                    <a:ext uri="{9D8B030D-6E8A-4147-A177-3AD203B41FA5}">
                      <a16:colId xmlns:a16="http://schemas.microsoft.com/office/drawing/2014/main" val="3029417734"/>
                    </a:ext>
                  </a:extLst>
                </a:gridCol>
              </a:tblGrid>
              <a:tr h="308164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1" i="0" u="none" strike="noStrike" dirty="0" err="1">
                          <a:effectLst/>
                          <a:latin typeface="Arial" panose="020B0604020202020204" pitchFamily="34" charset="0"/>
                        </a:rPr>
                        <a:t>dataname</a:t>
                      </a:r>
                      <a:endParaRPr lang="fr-FR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Janvier - Mars 2023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Janvier - Mars 2024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Janvier - Mars 2025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836460"/>
                  </a:ext>
                </a:extLst>
              </a:tr>
              <a:tr h="308164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effectLst/>
                          <a:latin typeface="Arial" panose="020B0604020202020204" pitchFamily="34" charset="0"/>
                        </a:rPr>
                        <a:t>Admin-</a:t>
                      </a:r>
                      <a:r>
                        <a:rPr lang="fr-FR" sz="1600" b="0" i="0" u="none" strike="noStrike" dirty="0" err="1">
                          <a:effectLst/>
                          <a:latin typeface="Arial" panose="020B0604020202020204" pitchFamily="34" charset="0"/>
                        </a:rPr>
                        <a:t>Duree</a:t>
                      </a:r>
                      <a:r>
                        <a:rPr lang="fr-FR" sz="1600" b="0" i="0" u="none" strike="noStrike" dirty="0">
                          <a:effectLst/>
                          <a:latin typeface="Arial" panose="020B0604020202020204" pitchFamily="34" charset="0"/>
                        </a:rPr>
                        <a:t> Moyenne de séjour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2,7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2,5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931304"/>
                  </a:ext>
                </a:extLst>
              </a:tr>
              <a:tr h="308164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effectLst/>
                          <a:latin typeface="Arial" panose="020B0604020202020204" pitchFamily="34" charset="0"/>
                        </a:rPr>
                        <a:t>Palu-Paludisme décès 5 ans taux de décès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38,1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71,4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effectLst/>
                          <a:latin typeface="Arial" panose="020B0604020202020204" pitchFamily="34" charset="0"/>
                        </a:rPr>
                        <a:t>0,0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631161"/>
                  </a:ext>
                </a:extLst>
              </a:tr>
              <a:tr h="308164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Palu-Taux de confirmation du Paludisme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100,0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100,0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101,2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99492"/>
                  </a:ext>
                </a:extLst>
              </a:tr>
              <a:tr h="502693">
                <a:tc>
                  <a:txBody>
                    <a:bodyPr/>
                    <a:lstStyle/>
                    <a:p>
                      <a:pPr algn="l" fontAlgn="b"/>
                      <a:endParaRPr lang="fr-FR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70259"/>
                  </a:ext>
                </a:extLst>
              </a:tr>
              <a:tr h="502693">
                <a:tc>
                  <a:txBody>
                    <a:bodyPr/>
                    <a:lstStyle/>
                    <a:p>
                      <a:pPr algn="l" fontAlgn="b"/>
                      <a:endParaRPr lang="fr-FR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6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485700"/>
                  </a:ext>
                </a:extLst>
              </a:tr>
              <a:tr h="308164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effectLst/>
                          <a:latin typeface="Arial" panose="020B0604020202020204" pitchFamily="34" charset="0"/>
                        </a:rPr>
                        <a:t>Palu-Taux de positivité Paludisme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11,7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10,3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42,7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956215"/>
                  </a:ext>
                </a:extLst>
              </a:tr>
              <a:tr h="308164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SMI-Deces neonatals enregistrés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3,0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effectLst/>
                          <a:latin typeface="Arial" panose="020B0604020202020204" pitchFamily="34" charset="0"/>
                        </a:rPr>
                        <a:t>7,0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039805"/>
                  </a:ext>
                </a:extLst>
              </a:tr>
              <a:tr h="308164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SMI-Proportion de deces neonatals audites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50643"/>
                  </a:ext>
                </a:extLst>
              </a:tr>
              <a:tr h="308164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SMI-Total Deces maternels enregistres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effectLst/>
                          <a:latin typeface="Arial" panose="020B060402020202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771700"/>
                  </a:ext>
                </a:extLst>
              </a:tr>
              <a:tr h="308164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SMI-Proportion de deces maternels audites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100,0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50,0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23811"/>
                  </a:ext>
                </a:extLst>
              </a:tr>
              <a:tr h="308164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SMI-Proportion de deces maternels pour 100 000 parturientes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117,2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109,2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204,9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290607"/>
                  </a:ext>
                </a:extLst>
              </a:tr>
              <a:tr h="308164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>
                          <a:effectLst/>
                          <a:latin typeface="Arial" panose="020B0604020202020204" pitchFamily="34" charset="0"/>
                        </a:rPr>
                        <a:t>SMI-Taux accouchements realises avec partogramme</a:t>
                      </a: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84,6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82,8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84,0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658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5332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C5C9-A6E1-5612-FD78-5C609240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756F74-28A0-9FF7-4F4E-1B7FE35CB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" y="224971"/>
            <a:ext cx="11831781" cy="1742374"/>
          </a:xfrm>
        </p:spPr>
        <p:txBody>
          <a:bodyPr>
            <a:noAutofit/>
          </a:bodyPr>
          <a:lstStyle/>
          <a:p>
            <a:pPr algn="ctr"/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Quelques indicateurs CMA Pissy T1 de 2023,2024 et 2025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3F15AB4-73B8-7EFD-8B39-3EBE69A8A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282688"/>
              </p:ext>
            </p:extLst>
          </p:nvPr>
        </p:nvGraphicFramePr>
        <p:xfrm>
          <a:off x="249383" y="1731818"/>
          <a:ext cx="11568544" cy="4765972"/>
        </p:xfrm>
        <a:graphic>
          <a:graphicData uri="http://schemas.openxmlformats.org/drawingml/2006/table">
            <a:tbl>
              <a:tblPr/>
              <a:tblGrid>
                <a:gridCol w="6062361">
                  <a:extLst>
                    <a:ext uri="{9D8B030D-6E8A-4147-A177-3AD203B41FA5}">
                      <a16:colId xmlns:a16="http://schemas.microsoft.com/office/drawing/2014/main" val="799983744"/>
                    </a:ext>
                  </a:extLst>
                </a:gridCol>
                <a:gridCol w="2238624">
                  <a:extLst>
                    <a:ext uri="{9D8B030D-6E8A-4147-A177-3AD203B41FA5}">
                      <a16:colId xmlns:a16="http://schemas.microsoft.com/office/drawing/2014/main" val="2761541242"/>
                    </a:ext>
                  </a:extLst>
                </a:gridCol>
                <a:gridCol w="1557305">
                  <a:extLst>
                    <a:ext uri="{9D8B030D-6E8A-4147-A177-3AD203B41FA5}">
                      <a16:colId xmlns:a16="http://schemas.microsoft.com/office/drawing/2014/main" val="3174153361"/>
                    </a:ext>
                  </a:extLst>
                </a:gridCol>
                <a:gridCol w="1710254">
                  <a:extLst>
                    <a:ext uri="{9D8B030D-6E8A-4147-A177-3AD203B41FA5}">
                      <a16:colId xmlns:a16="http://schemas.microsoft.com/office/drawing/2014/main" val="1412587300"/>
                    </a:ext>
                  </a:extLst>
                </a:gridCol>
              </a:tblGrid>
              <a:tr h="434561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dataname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 dirty="0">
                          <a:effectLst/>
                          <a:latin typeface="Arial" panose="020B0604020202020204" pitchFamily="34" charset="0"/>
                        </a:rPr>
                        <a:t>Janvier - Mars 2023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>
                          <a:effectLst/>
                          <a:latin typeface="Arial" panose="020B0604020202020204" pitchFamily="34" charset="0"/>
                        </a:rPr>
                        <a:t>Janvier - Mars 2024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i="0" u="none" strike="noStrike" dirty="0">
                          <a:effectLst/>
                          <a:latin typeface="Arial" panose="020B0604020202020204" pitchFamily="34" charset="0"/>
                        </a:rPr>
                        <a:t>Janvier - Mars 2025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845829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Nombre de Contre </a:t>
                      </a:r>
                      <a:r>
                        <a:rPr lang="fr-FR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reference</a:t>
                      </a:r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FR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realisees</a:t>
                      </a:r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399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392228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 Taux de contre référence réalisé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74485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115758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Nombre de malades Sorties </a:t>
                      </a:r>
                      <a:r>
                        <a:rPr lang="fr-FR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evacues</a:t>
                      </a:r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357621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Nombre de malades Sorties </a:t>
                      </a:r>
                      <a:r>
                        <a:rPr lang="fr-FR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referes</a:t>
                      </a:r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098902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15696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sng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432540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Nombre de enfants pris en charge selon approche TETU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813185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111522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Nouveaux consultants-Auto orientes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8290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10356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7160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963041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Nombre de malades Entres Auto orientes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1690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381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366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130846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Nombre de malades Entres </a:t>
                      </a:r>
                      <a:r>
                        <a:rPr lang="fr-FR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evacues</a:t>
                      </a:r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908321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Nouveaux consultants Evacues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05519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Nouveaux consultants Référés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1720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2983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2638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76858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348370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Malades référés/évacués pris en charge par un attaché de santé /Ingénieur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1181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409253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Nombre de malades Entres </a:t>
                      </a:r>
                      <a:r>
                        <a:rPr lang="fr-FR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referes</a:t>
                      </a:r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710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869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46065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Nombre de malades Sorties </a:t>
                      </a:r>
                      <a:r>
                        <a:rPr lang="fr-FR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Decedes</a:t>
                      </a:r>
                      <a:endParaRPr lang="fr-F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94553"/>
                  </a:ext>
                </a:extLst>
              </a:tr>
              <a:tr h="227969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Nombre de suppurations postopératoires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368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5094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99D7D-5D93-756E-381D-761D26F5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D5184C-2651-CFD7-45A6-ECC568729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" y="224971"/>
            <a:ext cx="11887200" cy="1340593"/>
          </a:xfrm>
        </p:spPr>
        <p:txBody>
          <a:bodyPr>
            <a:noAutofit/>
          </a:bodyPr>
          <a:lstStyle/>
          <a:p>
            <a:pPr algn="ctr"/>
            <a:r>
              <a:rPr lang="fr-FR" sz="3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Taux de contre référence réalisé par unité au</a:t>
            </a:r>
            <a:br>
              <a:rPr lang="fr-FR" sz="3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CMA Pissy T1 2025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E34D2F73-B709-72E3-018A-8E8DDA0F6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789478"/>
              </p:ext>
            </p:extLst>
          </p:nvPr>
        </p:nvGraphicFramePr>
        <p:xfrm>
          <a:off x="193963" y="1375530"/>
          <a:ext cx="11679381" cy="5066830"/>
        </p:xfrm>
        <a:graphic>
          <a:graphicData uri="http://schemas.openxmlformats.org/drawingml/2006/table">
            <a:tbl>
              <a:tblPr/>
              <a:tblGrid>
                <a:gridCol w="3457848">
                  <a:extLst>
                    <a:ext uri="{9D8B030D-6E8A-4147-A177-3AD203B41FA5}">
                      <a16:colId xmlns:a16="http://schemas.microsoft.com/office/drawing/2014/main" val="3620644540"/>
                    </a:ext>
                  </a:extLst>
                </a:gridCol>
                <a:gridCol w="1702808">
                  <a:extLst>
                    <a:ext uri="{9D8B030D-6E8A-4147-A177-3AD203B41FA5}">
                      <a16:colId xmlns:a16="http://schemas.microsoft.com/office/drawing/2014/main" val="4287827536"/>
                    </a:ext>
                  </a:extLst>
                </a:gridCol>
                <a:gridCol w="1702808">
                  <a:extLst>
                    <a:ext uri="{9D8B030D-6E8A-4147-A177-3AD203B41FA5}">
                      <a16:colId xmlns:a16="http://schemas.microsoft.com/office/drawing/2014/main" val="1758325251"/>
                    </a:ext>
                  </a:extLst>
                </a:gridCol>
                <a:gridCol w="1702808">
                  <a:extLst>
                    <a:ext uri="{9D8B030D-6E8A-4147-A177-3AD203B41FA5}">
                      <a16:colId xmlns:a16="http://schemas.microsoft.com/office/drawing/2014/main" val="1272790953"/>
                    </a:ext>
                  </a:extLst>
                </a:gridCol>
                <a:gridCol w="1702808">
                  <a:extLst>
                    <a:ext uri="{9D8B030D-6E8A-4147-A177-3AD203B41FA5}">
                      <a16:colId xmlns:a16="http://schemas.microsoft.com/office/drawing/2014/main" val="3011093969"/>
                    </a:ext>
                  </a:extLst>
                </a:gridCol>
                <a:gridCol w="1410301">
                  <a:extLst>
                    <a:ext uri="{9D8B030D-6E8A-4147-A177-3AD203B41FA5}">
                      <a16:colId xmlns:a16="http://schemas.microsoft.com/office/drawing/2014/main" val="2606805641"/>
                    </a:ext>
                  </a:extLst>
                </a:gridCol>
              </a:tblGrid>
              <a:tr h="98623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organisationunitname</a:t>
                      </a:r>
                      <a:endParaRPr lang="fr-F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Nouveaux consultants Evacues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Nouveaux consultants </a:t>
                      </a:r>
                      <a:r>
                        <a:rPr lang="fr-FR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Referes</a:t>
                      </a:r>
                      <a:endParaRPr lang="fr-F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Total </a:t>
                      </a:r>
                      <a:r>
                        <a:rPr lang="fr-FR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references</a:t>
                      </a:r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/ évacuations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Nombre de Contre </a:t>
                      </a:r>
                      <a:r>
                        <a:rPr lang="fr-FR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reference</a:t>
                      </a:r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FR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realisees</a:t>
                      </a:r>
                      <a:endParaRPr lang="fr-FR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Taux de contre référence réalisé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979100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CMA Pissy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2 638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2 912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399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429157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Cardiologie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651143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Chirurgie Post Opéré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216466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Chirurgie_Bloc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669674"/>
                  </a:ext>
                </a:extLst>
              </a:tr>
              <a:tr h="458485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Consultation Externe Medecine Generale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018017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Dermatologie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11906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Maternite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850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899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131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420824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Medecine Interne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295669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ORL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94189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Odontologie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608753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Ophtalmologie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444244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Pediatrie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460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472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180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86461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Pneumologie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956528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Psychiatrie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770843"/>
                  </a:ext>
                </a:extLst>
              </a:tr>
              <a:tr h="2587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Urgences Medicales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1 202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1 410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423" marR="9423" marT="942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0" i="0" u="none" strike="noStrike" dirty="0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423" marR="9423" marT="9423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201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38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9A86C-3D30-6A6A-B256-E1ED17798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F7D2CC-6073-651A-BCBC-1D788313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" y="224971"/>
            <a:ext cx="11984182" cy="1368302"/>
          </a:xfrm>
        </p:spPr>
        <p:txBody>
          <a:bodyPr>
            <a:noAutofit/>
          </a:bodyPr>
          <a:lstStyle/>
          <a:p>
            <a:pPr algn="ctr"/>
            <a:r>
              <a:rPr lang="fr-FR" sz="3600" i="0" u="none" strike="noStrike" dirty="0">
                <a:effectLst/>
                <a:latin typeface="Arial" panose="020B0604020202020204" pitchFamily="34" charset="0"/>
              </a:rPr>
              <a:t>Nouveaux consultants et total hospitalisés </a:t>
            </a:r>
            <a:r>
              <a:rPr lang="fr-FR" sz="3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 unité au</a:t>
            </a:r>
            <a:br>
              <a:rPr lang="fr-FR" sz="3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CMA Pissy T1 2025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E7710395-BB70-598D-4EB2-78A81FAE6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373957"/>
              </p:ext>
            </p:extLst>
          </p:nvPr>
        </p:nvGraphicFramePr>
        <p:xfrm>
          <a:off x="484910" y="1773382"/>
          <a:ext cx="11139052" cy="4843894"/>
        </p:xfrm>
        <a:graphic>
          <a:graphicData uri="http://schemas.openxmlformats.org/drawingml/2006/table">
            <a:tbl>
              <a:tblPr/>
              <a:tblGrid>
                <a:gridCol w="2750576">
                  <a:extLst>
                    <a:ext uri="{9D8B030D-6E8A-4147-A177-3AD203B41FA5}">
                      <a16:colId xmlns:a16="http://schemas.microsoft.com/office/drawing/2014/main" val="1523052986"/>
                    </a:ext>
                  </a:extLst>
                </a:gridCol>
                <a:gridCol w="997666">
                  <a:extLst>
                    <a:ext uri="{9D8B030D-6E8A-4147-A177-3AD203B41FA5}">
                      <a16:colId xmlns:a16="http://schemas.microsoft.com/office/drawing/2014/main" val="3941145195"/>
                    </a:ext>
                  </a:extLst>
                </a:gridCol>
                <a:gridCol w="997666">
                  <a:extLst>
                    <a:ext uri="{9D8B030D-6E8A-4147-A177-3AD203B41FA5}">
                      <a16:colId xmlns:a16="http://schemas.microsoft.com/office/drawing/2014/main" val="155961053"/>
                    </a:ext>
                  </a:extLst>
                </a:gridCol>
                <a:gridCol w="997666">
                  <a:extLst>
                    <a:ext uri="{9D8B030D-6E8A-4147-A177-3AD203B41FA5}">
                      <a16:colId xmlns:a16="http://schemas.microsoft.com/office/drawing/2014/main" val="3395101652"/>
                    </a:ext>
                  </a:extLst>
                </a:gridCol>
                <a:gridCol w="997666">
                  <a:extLst>
                    <a:ext uri="{9D8B030D-6E8A-4147-A177-3AD203B41FA5}">
                      <a16:colId xmlns:a16="http://schemas.microsoft.com/office/drawing/2014/main" val="399963832"/>
                    </a:ext>
                  </a:extLst>
                </a:gridCol>
                <a:gridCol w="997666">
                  <a:extLst>
                    <a:ext uri="{9D8B030D-6E8A-4147-A177-3AD203B41FA5}">
                      <a16:colId xmlns:a16="http://schemas.microsoft.com/office/drawing/2014/main" val="3850381917"/>
                    </a:ext>
                  </a:extLst>
                </a:gridCol>
                <a:gridCol w="997666">
                  <a:extLst>
                    <a:ext uri="{9D8B030D-6E8A-4147-A177-3AD203B41FA5}">
                      <a16:colId xmlns:a16="http://schemas.microsoft.com/office/drawing/2014/main" val="2080026061"/>
                    </a:ext>
                  </a:extLst>
                </a:gridCol>
                <a:gridCol w="997666">
                  <a:extLst>
                    <a:ext uri="{9D8B030D-6E8A-4147-A177-3AD203B41FA5}">
                      <a16:colId xmlns:a16="http://schemas.microsoft.com/office/drawing/2014/main" val="3265295057"/>
                    </a:ext>
                  </a:extLst>
                </a:gridCol>
                <a:gridCol w="1404814">
                  <a:extLst>
                    <a:ext uri="{9D8B030D-6E8A-4147-A177-3AD203B41FA5}">
                      <a16:colId xmlns:a16="http://schemas.microsoft.com/office/drawing/2014/main" val="4195710231"/>
                    </a:ext>
                  </a:extLst>
                </a:gridCol>
              </a:tblGrid>
              <a:tr h="664894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organisationunitname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Nombre de malades Entres Auto orientes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Nombre de malades Entres evacues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Nombre de malades Entres referes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Total hospitalisés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Nouveaux consultants Evacues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Nouveaux consultants Referes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Nouveaux consultants-Auto orientes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 dirty="0">
                          <a:effectLst/>
                          <a:latin typeface="Arial" panose="020B0604020202020204" pitchFamily="34" charset="0"/>
                        </a:rPr>
                        <a:t>Total Nouveaux consultant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059163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CMA Pissy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366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869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1 305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2 638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7 160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effectLst/>
                          <a:latin typeface="Arial" panose="020B0604020202020204" pitchFamily="34" charset="0"/>
                        </a:rPr>
                        <a:t>10 072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862818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Cardiologie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895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895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462818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Chirurgie Post Opéré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959699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Chirurgie_Bloc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369535"/>
                  </a:ext>
                </a:extLst>
              </a:tr>
              <a:tr h="430226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Consultation Externe Medecine Generale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737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737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927217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Dermatologie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216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216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853334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Maternite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49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850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982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075248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Medecine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580705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Medecine Interne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353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353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000911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ORL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1 171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1 268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508939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Odontologie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319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331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737703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Ophtalmologie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1 646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1 661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004186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Pediatrie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147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427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581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460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780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1 252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371878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Pneumologie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148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148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982138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Psychiatrie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68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135385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CMA Pissy: Urgences Medicales</a:t>
                      </a:r>
                    </a:p>
                  </a:txBody>
                  <a:tcPr marL="8822" marR="8822" marT="8822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398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602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1 202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>
                          <a:effectLst/>
                          <a:latin typeface="Arial" panose="020B0604020202020204" pitchFamily="34" charset="0"/>
                        </a:rPr>
                        <a:t>747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effectLst/>
                          <a:latin typeface="Arial" panose="020B0604020202020204" pitchFamily="34" charset="0"/>
                        </a:rPr>
                        <a:t>2 157</a:t>
                      </a:r>
                    </a:p>
                  </a:txBody>
                  <a:tcPr marL="8822" marR="8822" marT="882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665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419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C250E-C095-F3A1-AF55-BD07E391B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806120-2EA1-5791-BB41-B7E3B48D6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" y="224971"/>
            <a:ext cx="11984182" cy="1368302"/>
          </a:xfrm>
        </p:spPr>
        <p:txBody>
          <a:bodyPr>
            <a:noAutofit/>
          </a:bodyPr>
          <a:lstStyle/>
          <a:p>
            <a:pPr algn="ctr"/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Indicateurs nutrition T1 2025</a:t>
            </a:r>
            <a:br>
              <a:rPr lang="fr-FR" sz="3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CMA Pissy (PCI)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4CF7D539-C897-6EAD-C700-332EA8421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33840"/>
              </p:ext>
            </p:extLst>
          </p:nvPr>
        </p:nvGraphicFramePr>
        <p:xfrm>
          <a:off x="346364" y="1593273"/>
          <a:ext cx="11748654" cy="4613565"/>
        </p:xfrm>
        <a:graphic>
          <a:graphicData uri="http://schemas.openxmlformats.org/drawingml/2006/table">
            <a:tbl>
              <a:tblPr/>
              <a:tblGrid>
                <a:gridCol w="6559158">
                  <a:extLst>
                    <a:ext uri="{9D8B030D-6E8A-4147-A177-3AD203B41FA5}">
                      <a16:colId xmlns:a16="http://schemas.microsoft.com/office/drawing/2014/main" val="4104227686"/>
                    </a:ext>
                  </a:extLst>
                </a:gridCol>
                <a:gridCol w="2313207">
                  <a:extLst>
                    <a:ext uri="{9D8B030D-6E8A-4147-A177-3AD203B41FA5}">
                      <a16:colId xmlns:a16="http://schemas.microsoft.com/office/drawing/2014/main" val="137644972"/>
                    </a:ext>
                  </a:extLst>
                </a:gridCol>
                <a:gridCol w="2876289">
                  <a:extLst>
                    <a:ext uri="{9D8B030D-6E8A-4147-A177-3AD203B41FA5}">
                      <a16:colId xmlns:a16="http://schemas.microsoft.com/office/drawing/2014/main" val="3353450975"/>
                    </a:ext>
                  </a:extLst>
                </a:gridCol>
              </a:tblGrid>
              <a:tr h="481203">
                <a:tc gridSpan="3"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  <a:buNone/>
                      </a:pPr>
                      <a:r>
                        <a:rPr lang="fr-FR" b="1">
                          <a:effectLst/>
                          <a:latin typeface="Roboto" panose="02000000000000000000" pitchFamily="2" charset="0"/>
                        </a:rPr>
                        <a:t>CMA Pissy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A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554459"/>
                  </a:ext>
                </a:extLst>
              </a:tr>
              <a:tr h="1576822"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</a:pPr>
                      <a:endParaRPr lang="fr-FR" b="0">
                        <a:effectLst/>
                        <a:latin typeface="Roboto" panose="02000000000000000000" pitchFamily="2" charset="0"/>
                      </a:endParaRP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  <a:buNone/>
                      </a:pPr>
                      <a:r>
                        <a:rPr lang="fr-FR" b="0" dirty="0">
                          <a:effectLst/>
                          <a:latin typeface="Roboto" panose="02000000000000000000" pitchFamily="2" charset="0"/>
                        </a:rPr>
                        <a:t>Janvier - Mars 2024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  <a:buNone/>
                      </a:pPr>
                      <a:r>
                        <a:rPr lang="fr-FR" b="0" dirty="0">
                          <a:effectLst/>
                          <a:latin typeface="Roboto" panose="02000000000000000000" pitchFamily="2" charset="0"/>
                        </a:rPr>
                        <a:t>Janvier - Mars 2025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080988"/>
                  </a:ext>
                </a:extLst>
              </a:tr>
              <a:tr h="924344"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</a:pPr>
                      <a:r>
                        <a:rPr lang="fr-FR" b="0">
                          <a:effectLst/>
                          <a:latin typeface="Roboto" panose="02000000000000000000" pitchFamily="2" charset="0"/>
                        </a:rPr>
                        <a:t>Nut-Taux de guérison de la MAS en Interne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lang="fr-FR" b="0" dirty="0">
                          <a:effectLst/>
                          <a:latin typeface="Roboto" panose="02000000000000000000" pitchFamily="2" charset="0"/>
                        </a:rPr>
                        <a:t>85.3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lang="fr-FR" b="0" dirty="0">
                          <a:effectLst/>
                          <a:latin typeface="Roboto" panose="02000000000000000000" pitchFamily="2" charset="0"/>
                        </a:rPr>
                        <a:t>89.8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46262"/>
                  </a:ext>
                </a:extLst>
              </a:tr>
              <a:tr h="706852"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</a:pPr>
                      <a:r>
                        <a:rPr lang="fr-FR" b="0">
                          <a:effectLst/>
                          <a:latin typeface="Roboto" panose="02000000000000000000" pitchFamily="2" charset="0"/>
                        </a:rPr>
                        <a:t>Nut-Taux Abandon MAS Interne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lang="fr-FR" b="0">
                          <a:effectLst/>
                          <a:latin typeface="Roboto" panose="02000000000000000000" pitchFamily="2" charset="0"/>
                        </a:rPr>
                        <a:t>3.5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lang="fr-FR" b="0" dirty="0">
                          <a:effectLst/>
                          <a:latin typeface="Roboto" panose="02000000000000000000" pitchFamily="2" charset="0"/>
                        </a:rPr>
                        <a:t>2.2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36197"/>
                  </a:ext>
                </a:extLst>
              </a:tr>
              <a:tr h="924344"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</a:pPr>
                      <a:r>
                        <a:rPr lang="fr-FR" b="0">
                          <a:effectLst/>
                          <a:latin typeface="Roboto" panose="02000000000000000000" pitchFamily="2" charset="0"/>
                        </a:rPr>
                        <a:t>Nut-Taux de décès de la MAS en Interne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lang="fr-FR" b="0" dirty="0">
                          <a:effectLst/>
                          <a:latin typeface="Roboto" panose="02000000000000000000" pitchFamily="2" charset="0"/>
                        </a:rPr>
                        <a:t>11.2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lang="fr-FR" b="0" dirty="0">
                          <a:effectLst/>
                          <a:latin typeface="Roboto" panose="02000000000000000000" pitchFamily="2" charset="0"/>
                        </a:rPr>
                        <a:t>8</a:t>
                      </a:r>
                    </a:p>
                  </a:txBody>
                  <a:tcPr marL="47625" marR="47625" marT="47625" marB="47625" anchor="ctr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651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2807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4602</TotalTime>
  <Words>729</Words>
  <Application>Microsoft Macintosh PowerPoint</Application>
  <PresentationFormat>Widescreen</PresentationFormat>
  <Paragraphs>368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Calibri</vt:lpstr>
      <vt:lpstr>Calibri Light</vt:lpstr>
      <vt:lpstr>Roboto</vt:lpstr>
      <vt:lpstr>Thème Office</vt:lpstr>
      <vt:lpstr>RENCONTRE RESP FS/ECD T12 2025</vt:lpstr>
      <vt:lpstr>Quelques indicateurs du CMA Pissy T1 de 2023,2024 et 2025</vt:lpstr>
      <vt:lpstr>Quelques indicateurs CMA Pissy T1 de 2023,2024 et 2025</vt:lpstr>
      <vt:lpstr>Taux de contre référence réalisé par unité au CMA Pissy T1 2025</vt:lpstr>
      <vt:lpstr>Nouveaux consultants et total hospitalisés par unité au CMA Pissy T1 2025</vt:lpstr>
      <vt:lpstr>Indicateurs nutrition T1 2025 CMA Pissy (PCI)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DELL</dc:creator>
  <cp:lastModifiedBy>Emmanuel Haro</cp:lastModifiedBy>
  <cp:revision>42</cp:revision>
  <dcterms:created xsi:type="dcterms:W3CDTF">2023-12-19T20:08:50Z</dcterms:created>
  <dcterms:modified xsi:type="dcterms:W3CDTF">2026-06-12T13:39:14Z</dcterms:modified>
</cp:coreProperties>
</file>